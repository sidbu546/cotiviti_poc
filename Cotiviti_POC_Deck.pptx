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f049bcc195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" name="Google Shape;46;g3f049bcc195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g3f049bcc195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205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7955280" y="457200"/>
            <a:ext cx="457200" cy="457200"/>
          </a:xfrm>
          <a:prstGeom prst="roundRect">
            <a:avLst>
              <a:gd fmla="val 16000" name="adj"/>
            </a:avLst>
          </a:prstGeom>
          <a:solidFill>
            <a:srgbClr val="7A4B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8275320" y="777240"/>
            <a:ext cx="457200" cy="457200"/>
          </a:xfrm>
          <a:prstGeom prst="roundRect">
            <a:avLst>
              <a:gd fmla="val 16000" name="adj"/>
            </a:avLst>
          </a:prstGeom>
          <a:solidFill>
            <a:srgbClr val="5B2A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7635240" y="777240"/>
            <a:ext cx="457200" cy="457200"/>
          </a:xfrm>
          <a:prstGeom prst="roundRect">
            <a:avLst>
              <a:gd fmla="val 16000" name="adj"/>
            </a:avLst>
          </a:prstGeom>
          <a:solidFill>
            <a:srgbClr val="1289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548640" y="10515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CBEC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D9CBEC"/>
                </a:solidFill>
                <a:latin typeface="Arial"/>
                <a:ea typeface="Arial"/>
                <a:cs typeface="Arial"/>
                <a:sym typeface="Arial"/>
              </a:rPr>
              <a:t> CONTENT MANAGEMENT IN HEALTHCARE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548640" y="1417320"/>
            <a:ext cx="80467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Converting Written Healthcare Policy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into Executable Rules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548640" y="278892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CBEC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D9CBEC"/>
                </a:solidFill>
                <a:latin typeface="Arial"/>
                <a:ea typeface="Arial"/>
                <a:cs typeface="Arial"/>
                <a:sym typeface="Arial"/>
              </a:rPr>
              <a:t>A local retrieval augmented system that turns Medicare policy into cited answers and auditable, executable rules.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548640" y="3611880"/>
            <a:ext cx="3657600" cy="777240"/>
          </a:xfrm>
          <a:prstGeom prst="roundRect">
            <a:avLst>
              <a:gd fmla="val 11765" name="adj"/>
            </a:avLst>
          </a:prstGeom>
          <a:solidFill>
            <a:srgbClr val="7A4B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777240" y="3611880"/>
            <a:ext cx="32461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report</a:t>
            </a:r>
            <a:b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Topic, trends, opportunities, threats, strategy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4480560" y="3611880"/>
            <a:ext cx="3657600" cy="777240"/>
          </a:xfrm>
          <a:prstGeom prst="roundRect">
            <a:avLst>
              <a:gd fmla="val 11765" name="adj"/>
            </a:avLst>
          </a:prstGeom>
          <a:solidFill>
            <a:srgbClr val="1289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4709160" y="3611880"/>
            <a:ext cx="32461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system</a:t>
            </a:r>
            <a:b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working proof of concept, four modes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A9D4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B8A9D4"/>
                </a:solidFill>
                <a:latin typeface="Arial"/>
                <a:ea typeface="Arial"/>
                <a:cs typeface="Arial"/>
                <a:sym typeface="Arial"/>
              </a:rPr>
              <a:t>Siddhanth</a:t>
            </a:r>
            <a:r>
              <a:rPr lang="en-US" sz="1100">
                <a:solidFill>
                  <a:srgbClr val="B8A9D4"/>
                </a:solidFill>
              </a:rPr>
              <a:t> Kalyanaraman</a:t>
            </a:r>
            <a:r>
              <a:rPr b="0" i="0" lang="en-US" sz="1100" u="none" cap="none" strike="noStrike">
                <a:solidFill>
                  <a:srgbClr val="B8A9D4"/>
                </a:solidFill>
                <a:latin typeface="Arial"/>
                <a:ea typeface="Arial"/>
                <a:cs typeface="Arial"/>
                <a:sym typeface="Arial"/>
              </a:rPr>
              <a:t>   ·   M.S. Artificial Intelligence, Boston University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2A86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5B2A86"/>
                </a:solidFill>
                <a:latin typeface="Arial"/>
                <a:ea typeface="Arial"/>
                <a:cs typeface="Arial"/>
                <a:sym typeface="Arial"/>
              </a:rPr>
              <a:t>The Report at a Glance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457200" y="749808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2A86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5B2A86"/>
                </a:solidFill>
                <a:latin typeface="Arial"/>
                <a:ea typeface="Arial"/>
                <a:cs typeface="Arial"/>
                <a:sym typeface="Arial"/>
              </a:rPr>
              <a:t>Topic:  </a:t>
            </a:r>
            <a:r>
              <a:rPr b="0" i="0" lang="en-US" sz="1200" u="none" cap="none" strike="noStrike">
                <a:solidFill>
                  <a:srgbClr val="20202E"/>
                </a:solidFill>
                <a:latin typeface="Arial"/>
                <a:ea typeface="Arial"/>
                <a:cs typeface="Arial"/>
                <a:sym typeface="Arial"/>
              </a:rPr>
              <a:t>converting written healthcare policy, coverage rules and guidelines, into machine-executable rules a payer can trust.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457200" y="1261872"/>
            <a:ext cx="4023360" cy="2148840"/>
          </a:xfrm>
          <a:prstGeom prst="roundRect">
            <a:avLst>
              <a:gd fmla="val 3404" name="adj"/>
            </a:avLst>
          </a:prstGeom>
          <a:solidFill>
            <a:srgbClr val="F2ECF7"/>
          </a:solidFill>
          <a:ln>
            <a:noFill/>
          </a:ln>
          <a:effectLst>
            <a:outerShdw blurRad="88900" rotWithShape="0" algn="bl" dir="54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658368" y="1408176"/>
            <a:ext cx="3657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2A86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5B2A86"/>
                </a:solidFill>
                <a:latin typeface="Arial"/>
                <a:ea typeface="Arial"/>
                <a:cs typeface="Arial"/>
                <a:sym typeface="Arial"/>
              </a:rPr>
              <a:t>Opportunities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713232" y="1792224"/>
            <a:ext cx="356616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20202E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20202E"/>
                </a:solidFill>
                <a:latin typeface="Arial"/>
                <a:ea typeface="Arial"/>
                <a:cs typeface="Arial"/>
                <a:sym typeface="Arial"/>
              </a:rPr>
              <a:t>Automate policy-to-edit authoring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500"/>
              </a:spcBef>
              <a:spcAft>
                <a:spcPts val="0"/>
              </a:spcAft>
              <a:buClr>
                <a:srgbClr val="20202E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20202E"/>
                </a:solidFill>
                <a:latin typeface="Arial"/>
                <a:ea typeface="Arial"/>
                <a:cs typeface="Arial"/>
                <a:sym typeface="Arial"/>
              </a:rPr>
              <a:t>Change-impact analysis across versions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500"/>
              </a:spcBef>
              <a:spcAft>
                <a:spcPts val="0"/>
              </a:spcAft>
              <a:buClr>
                <a:srgbClr val="20202E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20202E"/>
                </a:solidFill>
                <a:latin typeface="Arial"/>
                <a:ea typeface="Arial"/>
                <a:cs typeface="Arial"/>
                <a:sym typeface="Arial"/>
              </a:rPr>
              <a:t>Consistency across reviewers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500"/>
              </a:spcBef>
              <a:spcAft>
                <a:spcPts val="0"/>
              </a:spcAft>
              <a:buClr>
                <a:srgbClr val="20202E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20202E"/>
                </a:solidFill>
                <a:latin typeface="Arial"/>
                <a:ea typeface="Arial"/>
                <a:cs typeface="Arial"/>
                <a:sym typeface="Arial"/>
              </a:rPr>
              <a:t>Explainability that defends appeals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4663440" y="1261872"/>
            <a:ext cx="4023360" cy="2148840"/>
          </a:xfrm>
          <a:prstGeom prst="roundRect">
            <a:avLst>
              <a:gd fmla="val 3404" name="adj"/>
            </a:avLst>
          </a:prstGeom>
          <a:solidFill>
            <a:srgbClr val="F6ECEC"/>
          </a:solidFill>
          <a:ln>
            <a:noFill/>
          </a:ln>
          <a:effectLst>
            <a:outerShdw blurRad="88900" rotWithShape="0" algn="bl" dir="54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4864608" y="1408176"/>
            <a:ext cx="3657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3A3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8A3A3A"/>
                </a:solidFill>
                <a:latin typeface="Arial"/>
                <a:ea typeface="Arial"/>
                <a:cs typeface="Arial"/>
                <a:sym typeface="Arial"/>
              </a:rPr>
              <a:t>Threats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4919472" y="1792224"/>
            <a:ext cx="356616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20202E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20202E"/>
                </a:solidFill>
                <a:latin typeface="Arial"/>
                <a:ea typeface="Arial"/>
                <a:cs typeface="Arial"/>
                <a:sym typeface="Arial"/>
              </a:rPr>
              <a:t>Faithfulness of rule extraction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500"/>
              </a:spcBef>
              <a:spcAft>
                <a:spcPts val="0"/>
              </a:spcAft>
              <a:buClr>
                <a:srgbClr val="20202E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20202E"/>
                </a:solidFill>
                <a:latin typeface="Arial"/>
                <a:ea typeface="Arial"/>
                <a:cs typeface="Arial"/>
                <a:sym typeface="Arial"/>
              </a:rPr>
              <a:t>Accountability, fairness, regulation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500"/>
              </a:spcBef>
              <a:spcAft>
                <a:spcPts val="0"/>
              </a:spcAft>
              <a:buClr>
                <a:srgbClr val="20202E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20202E"/>
                </a:solidFill>
                <a:latin typeface="Arial"/>
                <a:ea typeface="Arial"/>
                <a:cs typeface="Arial"/>
                <a:sym typeface="Arial"/>
              </a:rPr>
              <a:t>Privacy vs. model capability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500"/>
              </a:spcBef>
              <a:spcAft>
                <a:spcPts val="0"/>
              </a:spcAft>
              <a:buClr>
                <a:srgbClr val="20202E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20202E"/>
                </a:solidFill>
                <a:latin typeface="Arial"/>
                <a:ea typeface="Arial"/>
                <a:cs typeface="Arial"/>
                <a:sym typeface="Arial"/>
              </a:rPr>
              <a:t>CPT copyright limits on content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57200" y="3566160"/>
            <a:ext cx="8229600" cy="1234440"/>
          </a:xfrm>
          <a:prstGeom prst="roundRect">
            <a:avLst>
              <a:gd fmla="val 5926" name="adj"/>
            </a:avLst>
          </a:prstGeom>
          <a:solidFill>
            <a:srgbClr val="E4F3F1"/>
          </a:solidFill>
          <a:ln>
            <a:noFill/>
          </a:ln>
          <a:effectLst>
            <a:outerShdw blurRad="88900" rotWithShape="0" algn="bl" dir="54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658368" y="3675888"/>
            <a:ext cx="7863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897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2897F"/>
                </a:solidFill>
                <a:latin typeface="Arial"/>
                <a:ea typeface="Arial"/>
                <a:cs typeface="Arial"/>
                <a:sym typeface="Arial"/>
              </a:rPr>
              <a:t>Two options for Cotiviti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658368" y="4023360"/>
            <a:ext cx="39319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20202E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20202E"/>
                </a:solidFill>
                <a:latin typeface="Arial"/>
                <a:ea typeface="Arial"/>
                <a:cs typeface="Arial"/>
                <a:sym typeface="Arial"/>
              </a:rPr>
              <a:t>1  Internal authoring assistant</a:t>
            </a:r>
            <a:br>
              <a:rPr b="1" i="0" lang="en-US" sz="1150" u="none" cap="none" strike="noStrike">
                <a:solidFill>
                  <a:srgbClr val="20202E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50" u="none" cap="none" strike="noStrike">
                <a:solidFill>
                  <a:srgbClr val="6B6478"/>
                </a:solidFill>
                <a:latin typeface="Arial"/>
                <a:ea typeface="Arial"/>
                <a:cs typeface="Arial"/>
                <a:sym typeface="Arial"/>
              </a:rPr>
              <a:t>Drafts edits from new policy, grounded in Cotiviti content, expert sign-off, run privately.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4663440" y="4023360"/>
            <a:ext cx="39319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20202E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20202E"/>
                </a:solidFill>
                <a:latin typeface="Arial"/>
                <a:ea typeface="Arial"/>
                <a:cs typeface="Arial"/>
                <a:sym typeface="Arial"/>
              </a:rPr>
              <a:t>2  Provider-facing checker</a:t>
            </a:r>
            <a:br>
              <a:rPr b="1" i="0" lang="en-US" sz="1150" u="none" cap="none" strike="noStrike">
                <a:solidFill>
                  <a:srgbClr val="20202E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50" u="none" cap="none" strike="noStrike">
                <a:solidFill>
                  <a:srgbClr val="6B6478"/>
                </a:solidFill>
                <a:latin typeface="Arial"/>
                <a:ea typeface="Arial"/>
                <a:cs typeface="Arial"/>
                <a:sym typeface="Arial"/>
              </a:rPr>
              <a:t>Checks claims against policy before submission, moves upstream, cuts denials and abrasion.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5" title="Screenshot 2026-07-01 at 4.27.3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0425" y="-15775"/>
            <a:ext cx="9264425" cy="51750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